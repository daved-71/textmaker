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3C7964"/>
          </a:solidFill>
          <a:ln w="12700">
            <a:solidFill>
              <a:srgbClr val="3C79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6382512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" dirty="0">
                <a:solidFill>
                  <a:srgbClr val="5F7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Results Briefing | Government-agency sample slide set</a:t>
            </a:r>
            <a:endParaRPr lang="en-US" sz="580" dirty="0"/>
          </a:p>
        </p:txBody>
      </p:sp>
      <p:sp>
        <p:nvSpPr>
          <p:cNvPr id="4" name="Text 2"/>
          <p:cNvSpPr/>
          <p:nvPr/>
        </p:nvSpPr>
        <p:spPr>
          <a:xfrm>
            <a:off x="11109960" y="22860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3C79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1/6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02920" y="329184"/>
            <a:ext cx="1042416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431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 Limited Expansion of the Intake Checklist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30352" y="932688"/>
            <a:ext cx="9692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F7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Intake checklist trial results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02920" y="1225296"/>
            <a:ext cx="11109960" cy="0"/>
          </a:xfrm>
          <a:prstGeom prst="line">
            <a:avLst/>
          </a:prstGeom>
          <a:noFill/>
          <a:ln w="13970">
            <a:solidFill>
              <a:srgbClr val="CBD6D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173736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C79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today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005840" y="2331720"/>
            <a:ext cx="3169920" cy="2057400"/>
          </a:xfrm>
          <a:prstGeom prst="roundRect">
            <a:avLst>
              <a:gd name="adj" fmla="val 3111"/>
            </a:avLst>
          </a:prstGeom>
          <a:solidFill>
            <a:srgbClr val="FFFFFF"/>
          </a:solidFill>
          <a:ln w="17145">
            <a:solidFill>
              <a:srgbClr val="3C796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70432" y="254203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C79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298448" y="2907792"/>
            <a:ext cx="2584704" cy="777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2431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today: expand to two more application types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4495800" y="2331720"/>
            <a:ext cx="3169920" cy="2057400"/>
          </a:xfrm>
          <a:prstGeom prst="roundRect">
            <a:avLst>
              <a:gd name="adj" fmla="val 3111"/>
            </a:avLst>
          </a:prstGeom>
          <a:solidFill>
            <a:srgbClr val="FFFFFF"/>
          </a:solidFill>
          <a:ln w="17145">
            <a:solidFill>
              <a:srgbClr val="3C796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0392" y="254203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C79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788408" y="2907792"/>
            <a:ext cx="2584704" cy="777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2431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Add: one update owner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7985760" y="2331720"/>
            <a:ext cx="3169920" cy="2057400"/>
          </a:xfrm>
          <a:prstGeom prst="roundRect">
            <a:avLst>
              <a:gd name="adj" fmla="val 3111"/>
            </a:avLst>
          </a:prstGeom>
          <a:solidFill>
            <a:srgbClr val="FFFFFF"/>
          </a:solidFill>
          <a:ln w="17145">
            <a:solidFill>
              <a:srgbClr val="3C796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50352" y="254203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C79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8278368" y="2907792"/>
            <a:ext cx="2584704" cy="777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2431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again after one month</a:t>
            </a:r>
            <a:endParaRPr lang="en-US" sz="15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3C7964"/>
          </a:solidFill>
          <a:ln w="12700">
            <a:solidFill>
              <a:srgbClr val="3C79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6382512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" dirty="0">
                <a:solidFill>
                  <a:srgbClr val="5F7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Results Briefing | Government-agency sample slide set</a:t>
            </a:r>
            <a:endParaRPr lang="en-US" sz="580" dirty="0"/>
          </a:p>
        </p:txBody>
      </p:sp>
      <p:sp>
        <p:nvSpPr>
          <p:cNvPr id="4" name="Text 2"/>
          <p:cNvSpPr/>
          <p:nvPr/>
        </p:nvSpPr>
        <p:spPr>
          <a:xfrm>
            <a:off x="11109960" y="22860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3C79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2/6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02920" y="329184"/>
            <a:ext cx="1042416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431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Checklist Catches Preventable Errors Earlier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30352" y="932688"/>
            <a:ext cx="9692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F7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Intake checklist trial results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02920" y="1225296"/>
            <a:ext cx="11109960" cy="0"/>
          </a:xfrm>
          <a:prstGeom prst="line">
            <a:avLst/>
          </a:prstGeom>
          <a:noFill/>
          <a:ln w="13970">
            <a:solidFill>
              <a:srgbClr val="CBD6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9808" y="2788920"/>
            <a:ext cx="3395472" cy="10972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3970">
            <a:solidFill>
              <a:srgbClr val="3C796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1248" y="3026664"/>
            <a:ext cx="3212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C79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Before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41248" y="3355848"/>
            <a:ext cx="3212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5F7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errors found after formal review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181856" y="3145536"/>
            <a:ext cx="182880" cy="347472"/>
          </a:xfrm>
          <a:prstGeom prst="rightArrow">
            <a:avLst/>
          </a:prstGeom>
          <a:solidFill>
            <a:srgbClr val="3C7964">
              <a:alpha val="90000"/>
            </a:srgbClr>
          </a:solidFill>
          <a:ln w="12700">
            <a:solidFill>
              <a:srgbClr val="3C7964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01312" y="2788920"/>
            <a:ext cx="3395472" cy="10972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3970">
            <a:solidFill>
              <a:srgbClr val="3C796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92752" y="3026664"/>
            <a:ext cx="3212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C79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Trial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492752" y="3355848"/>
            <a:ext cx="3212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5F7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front-counter checklist + shared FAQ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833360" y="3145536"/>
            <a:ext cx="182880" cy="347472"/>
          </a:xfrm>
          <a:prstGeom prst="rightArrow">
            <a:avLst/>
          </a:prstGeom>
          <a:solidFill>
            <a:srgbClr val="3C7964">
              <a:alpha val="90000"/>
            </a:srgbClr>
          </a:solidFill>
          <a:ln w="12700">
            <a:solidFill>
              <a:srgbClr val="3C7964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52816" y="2788920"/>
            <a:ext cx="3395472" cy="10972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3970">
            <a:solidFill>
              <a:srgbClr val="3C796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44256" y="3026664"/>
            <a:ext cx="3212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C79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Aim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144256" y="3355848"/>
            <a:ext cx="3212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5F7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fewer returns and repeat inquiries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3C7964"/>
          </a:solidFill>
          <a:ln w="12700">
            <a:solidFill>
              <a:srgbClr val="3C79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6382512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" dirty="0">
                <a:solidFill>
                  <a:srgbClr val="5F7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Results Briefing | Government-agency sample slide set</a:t>
            </a:r>
            <a:endParaRPr lang="en-US" sz="580" dirty="0"/>
          </a:p>
        </p:txBody>
      </p:sp>
      <p:sp>
        <p:nvSpPr>
          <p:cNvPr id="4" name="Text 2"/>
          <p:cNvSpPr/>
          <p:nvPr/>
        </p:nvSpPr>
        <p:spPr>
          <a:xfrm>
            <a:off x="11109960" y="22860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3C79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3/6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02920" y="329184"/>
            <a:ext cx="1042416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431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Checklist Fits Before Formal Review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30352" y="932688"/>
            <a:ext cx="9692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F7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Intake checklist trial results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02920" y="1225296"/>
            <a:ext cx="11109960" cy="0"/>
          </a:xfrm>
          <a:prstGeom prst="line">
            <a:avLst/>
          </a:prstGeom>
          <a:noFill/>
          <a:ln w="13970">
            <a:solidFill>
              <a:srgbClr val="CBD6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9808" y="2788920"/>
            <a:ext cx="2482596" cy="10972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3970">
            <a:solidFill>
              <a:srgbClr val="3C796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1248" y="3026664"/>
            <a:ext cx="22997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C79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41248" y="3355848"/>
            <a:ext cx="22997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5F7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attachment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68980" y="3145536"/>
            <a:ext cx="182880" cy="347472"/>
          </a:xfrm>
          <a:prstGeom prst="rightArrow">
            <a:avLst/>
          </a:prstGeom>
          <a:solidFill>
            <a:srgbClr val="3C7964">
              <a:alpha val="90000"/>
            </a:srgbClr>
          </a:solidFill>
          <a:ln w="12700">
            <a:solidFill>
              <a:srgbClr val="3C7964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88436" y="2788920"/>
            <a:ext cx="2482596" cy="10972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3970">
            <a:solidFill>
              <a:srgbClr val="3C796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79876" y="3026664"/>
            <a:ext cx="22997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C79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579876" y="3355848"/>
            <a:ext cx="22997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5F7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contact field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007608" y="3145536"/>
            <a:ext cx="182880" cy="347472"/>
          </a:xfrm>
          <a:prstGeom prst="rightArrow">
            <a:avLst/>
          </a:prstGeom>
          <a:solidFill>
            <a:srgbClr val="3C7964">
              <a:alpha val="90000"/>
            </a:srgbClr>
          </a:solidFill>
          <a:ln w="12700">
            <a:solidFill>
              <a:srgbClr val="3C7964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27064" y="2788920"/>
            <a:ext cx="2482596" cy="10972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3970">
            <a:solidFill>
              <a:srgbClr val="3C796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18504" y="3026664"/>
            <a:ext cx="22997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C79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318504" y="3355848"/>
            <a:ext cx="22997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5F7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 field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8746236" y="3145536"/>
            <a:ext cx="182880" cy="347472"/>
          </a:xfrm>
          <a:prstGeom prst="rightArrow">
            <a:avLst/>
          </a:prstGeom>
          <a:solidFill>
            <a:srgbClr val="3C7964">
              <a:alpha val="90000"/>
            </a:srgbClr>
          </a:solidFill>
          <a:ln w="12700">
            <a:solidFill>
              <a:srgbClr val="3C7964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965692" y="2788920"/>
            <a:ext cx="2482596" cy="10972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3970">
            <a:solidFill>
              <a:srgbClr val="3C796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057132" y="3026664"/>
            <a:ext cx="22997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C79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9057132" y="3355848"/>
            <a:ext cx="22997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5F7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signature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3C7964"/>
          </a:solidFill>
          <a:ln w="12700">
            <a:solidFill>
              <a:srgbClr val="3C79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6382512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" dirty="0">
                <a:solidFill>
                  <a:srgbClr val="5F7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Results Briefing | Government-agency sample slide set</a:t>
            </a:r>
            <a:endParaRPr lang="en-US" sz="580" dirty="0"/>
          </a:p>
        </p:txBody>
      </p:sp>
      <p:sp>
        <p:nvSpPr>
          <p:cNvPr id="4" name="Text 2"/>
          <p:cNvSpPr/>
          <p:nvPr/>
        </p:nvSpPr>
        <p:spPr>
          <a:xfrm>
            <a:off x="11109960" y="22860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3C79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4/6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02920" y="329184"/>
            <a:ext cx="1042416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431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Returned Applications Fell from 142 to 111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30352" y="932688"/>
            <a:ext cx="9692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F7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Intake checklist trial results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02920" y="1225296"/>
            <a:ext cx="11109960" cy="0"/>
          </a:xfrm>
          <a:prstGeom prst="line">
            <a:avLst/>
          </a:prstGeom>
          <a:noFill/>
          <a:ln w="13970">
            <a:solidFill>
              <a:srgbClr val="CBD6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935480" y="2148840"/>
            <a:ext cx="411480" cy="2743200"/>
          </a:xfrm>
          <a:prstGeom prst="rect">
            <a:avLst/>
          </a:prstGeom>
          <a:solidFill>
            <a:srgbClr val="2E6F95"/>
          </a:solidFill>
          <a:ln w="12700">
            <a:solidFill>
              <a:srgbClr val="2E6F9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89760" y="189280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6F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142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529840" y="2747708"/>
            <a:ext cx="411480" cy="2144332"/>
          </a:xfrm>
          <a:prstGeom prst="rect">
            <a:avLst/>
          </a:prstGeom>
          <a:solidFill>
            <a:srgbClr val="3C7964"/>
          </a:solidFill>
          <a:ln w="12700">
            <a:solidFill>
              <a:srgbClr val="3C796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84120" y="24916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C79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111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188720" y="5349240"/>
            <a:ext cx="249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2431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Returned applications</a:t>
            </a:r>
            <a:endParaRPr lang="en-US" sz="820" dirty="0"/>
          </a:p>
        </p:txBody>
      </p:sp>
      <p:sp>
        <p:nvSpPr>
          <p:cNvPr id="13" name="Shape 11"/>
          <p:cNvSpPr/>
          <p:nvPr/>
        </p:nvSpPr>
        <p:spPr>
          <a:xfrm>
            <a:off x="5440680" y="3230665"/>
            <a:ext cx="411480" cy="1661375"/>
          </a:xfrm>
          <a:prstGeom prst="rect">
            <a:avLst/>
          </a:prstGeom>
          <a:solidFill>
            <a:srgbClr val="2E6F95"/>
          </a:solidFill>
          <a:ln w="12700">
            <a:solidFill>
              <a:srgbClr val="2E6F9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94960" y="2974633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6F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86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6035040" y="3578395"/>
            <a:ext cx="411480" cy="1313645"/>
          </a:xfrm>
          <a:prstGeom prst="rect">
            <a:avLst/>
          </a:prstGeom>
          <a:solidFill>
            <a:srgbClr val="3C7964"/>
          </a:solidFill>
          <a:ln w="12700">
            <a:solidFill>
              <a:srgbClr val="3C796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89320" y="3322363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C79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68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693920" y="5349240"/>
            <a:ext cx="249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2431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Repeat inquiries</a:t>
            </a:r>
            <a:endParaRPr lang="en-US" sz="820" dirty="0"/>
          </a:p>
        </p:txBody>
      </p:sp>
      <p:sp>
        <p:nvSpPr>
          <p:cNvPr id="18" name="Shape 16"/>
          <p:cNvSpPr/>
          <p:nvPr/>
        </p:nvSpPr>
        <p:spPr>
          <a:xfrm>
            <a:off x="8945880" y="3404530"/>
            <a:ext cx="411480" cy="1487510"/>
          </a:xfrm>
          <a:prstGeom prst="rect">
            <a:avLst/>
          </a:prstGeom>
          <a:solidFill>
            <a:srgbClr val="2E6F95"/>
          </a:solidFill>
          <a:ln w="12700">
            <a:solidFill>
              <a:srgbClr val="2E6F9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00160" y="314849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6F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77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9540240" y="3771578"/>
            <a:ext cx="411480" cy="1120462"/>
          </a:xfrm>
          <a:prstGeom prst="rect">
            <a:avLst/>
          </a:prstGeom>
          <a:solidFill>
            <a:srgbClr val="3C7964"/>
          </a:solidFill>
          <a:ln w="12700">
            <a:solidFill>
              <a:srgbClr val="3C796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494520" y="351554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C79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58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8199120" y="5349240"/>
            <a:ext cx="249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2431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Attachment returns</a:t>
            </a:r>
            <a:endParaRPr lang="en-US" sz="820" dirty="0"/>
          </a:p>
        </p:txBody>
      </p:sp>
      <p:sp>
        <p:nvSpPr>
          <p:cNvPr id="23" name="Text 21"/>
          <p:cNvSpPr/>
          <p:nvPr/>
        </p:nvSpPr>
        <p:spPr>
          <a:xfrm>
            <a:off x="1188720" y="162763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F7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Fictional practice data</a:t>
            </a:r>
            <a:endParaRPr lang="en-US" sz="880" dirty="0"/>
          </a:p>
        </p:txBody>
      </p:sp>
      <p:sp>
        <p:nvSpPr>
          <p:cNvPr id="24" name="Shape 22"/>
          <p:cNvSpPr/>
          <p:nvPr/>
        </p:nvSpPr>
        <p:spPr>
          <a:xfrm>
            <a:off x="8869680" y="1609344"/>
            <a:ext cx="118872" cy="118872"/>
          </a:xfrm>
          <a:prstGeom prst="rect">
            <a:avLst/>
          </a:prstGeom>
          <a:solidFill>
            <a:srgbClr val="2E6F95"/>
          </a:solidFill>
          <a:ln w="12700">
            <a:solidFill>
              <a:srgbClr val="2E6F9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052560" y="157276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F7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Before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9738360" y="1609344"/>
            <a:ext cx="118872" cy="118872"/>
          </a:xfrm>
          <a:prstGeom prst="rect">
            <a:avLst/>
          </a:prstGeom>
          <a:solidFill>
            <a:srgbClr val="3C7964"/>
          </a:solidFill>
          <a:ln w="12700">
            <a:solidFill>
              <a:srgbClr val="3C796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921240" y="157276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F7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After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3C7964"/>
          </a:solidFill>
          <a:ln w="12700">
            <a:solidFill>
              <a:srgbClr val="3C79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6382512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" dirty="0">
                <a:solidFill>
                  <a:srgbClr val="5F7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Results Briefing | Government-agency sample slide set</a:t>
            </a:r>
            <a:endParaRPr lang="en-US" sz="580" dirty="0"/>
          </a:p>
        </p:txBody>
      </p:sp>
      <p:sp>
        <p:nvSpPr>
          <p:cNvPr id="4" name="Text 2"/>
          <p:cNvSpPr/>
          <p:nvPr/>
        </p:nvSpPr>
        <p:spPr>
          <a:xfrm>
            <a:off x="11109960" y="22860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3C79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5/6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02920" y="329184"/>
            <a:ext cx="1042416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431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Expand with One Owner and Monitor Waiting Time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30352" y="932688"/>
            <a:ext cx="9692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F7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Intake checklist trial results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02920" y="1225296"/>
            <a:ext cx="11109960" cy="0"/>
          </a:xfrm>
          <a:prstGeom prst="line">
            <a:avLst/>
          </a:prstGeom>
          <a:noFill/>
          <a:ln w="13970">
            <a:solidFill>
              <a:srgbClr val="CBD6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60120" y="2148840"/>
            <a:ext cx="3233928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5240">
            <a:solidFill>
              <a:srgbClr val="3C796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24712" y="2395728"/>
            <a:ext cx="2904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5F7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24712" y="2743200"/>
            <a:ext cx="2904744" cy="914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3C79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two high-volume application types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4486656" y="2148840"/>
            <a:ext cx="3233928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5240">
            <a:solidFill>
              <a:srgbClr val="3C796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51248" y="2395728"/>
            <a:ext cx="2904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5F7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Owner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651248" y="2743200"/>
            <a:ext cx="2904744" cy="914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3C79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document-review team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8013192" y="2148840"/>
            <a:ext cx="3233928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5240">
            <a:solidFill>
              <a:srgbClr val="3C796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77784" y="2395728"/>
            <a:ext cx="2904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5F7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Monitor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177784" y="2743200"/>
            <a:ext cx="2904744" cy="914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3C79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returns, repeat inquiries, waiting time</a:t>
            </a:r>
            <a:endParaRPr lang="en-US" sz="1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3C7964"/>
          </a:solidFill>
          <a:ln w="12700">
            <a:solidFill>
              <a:srgbClr val="3C79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6382512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" dirty="0">
                <a:solidFill>
                  <a:srgbClr val="5F7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Results Briefing | Government-agency sample slide set</a:t>
            </a:r>
            <a:endParaRPr lang="en-US" sz="580" dirty="0"/>
          </a:p>
        </p:txBody>
      </p:sp>
      <p:sp>
        <p:nvSpPr>
          <p:cNvPr id="4" name="Text 2"/>
          <p:cNvSpPr/>
          <p:nvPr/>
        </p:nvSpPr>
        <p:spPr>
          <a:xfrm>
            <a:off x="11109960" y="22860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3C79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6/6 backup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02920" y="329184"/>
            <a:ext cx="1042416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431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Staff Feedback: The Checklist Added About 40 Seconds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30352" y="932688"/>
            <a:ext cx="9692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F7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Intake checklist trial results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02920" y="1225296"/>
            <a:ext cx="11109960" cy="0"/>
          </a:xfrm>
          <a:prstGeom prst="line">
            <a:avLst/>
          </a:prstGeom>
          <a:noFill/>
          <a:ln w="13970">
            <a:solidFill>
              <a:srgbClr val="CBD6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60120" y="2148840"/>
            <a:ext cx="3233928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5240">
            <a:solidFill>
              <a:srgbClr val="3C796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24712" y="2395728"/>
            <a:ext cx="2904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5F7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Backup question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24712" y="2743200"/>
            <a:ext cx="2904744" cy="914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3C79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Will the counter line get longer?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4486656" y="2148840"/>
            <a:ext cx="3233928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5240">
            <a:solidFill>
              <a:srgbClr val="3C796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51248" y="2395728"/>
            <a:ext cx="2904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5F7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Staff feedback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651248" y="2743200"/>
            <a:ext cx="2904744" cy="914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3C79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about 40 seconds per intake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8013192" y="2148840"/>
            <a:ext cx="3233928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5240">
            <a:solidFill>
              <a:srgbClr val="3C796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14360" y="2514600"/>
            <a:ext cx="2831592" cy="11430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431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Monitor during expansion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BR2e / Presentation Skills 2026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Results Briefing: Government Agency</dc:title>
  <dc:subject>Intake Checklist Trial</dc:subject>
  <dc:creator>Language Services</dc:creator>
  <cp:lastModifiedBy>Language Services</cp:lastModifiedBy>
  <cp:revision>1</cp:revision>
  <dcterms:created xsi:type="dcterms:W3CDTF">2026-08-13T05:29:36Z</dcterms:created>
  <dcterms:modified xsi:type="dcterms:W3CDTF">2026-08-13T05:29:36Z</dcterms:modified>
</cp:coreProperties>
</file>