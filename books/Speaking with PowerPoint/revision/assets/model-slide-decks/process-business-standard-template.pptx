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7315200" cy="5486400" type="B5JIS"/>
  <p:notesSz cx="6858000" cy="9144000"/>
  <p:defaultTextStyle>
    <a:defPPr>
      <a:defRPr lang="en-US"/>
    </a:defPPr>
    <a:lvl1pPr marL="0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1pPr>
    <a:lvl2pPr marL="307238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2pPr>
    <a:lvl3pPr marL="614477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3pPr>
    <a:lvl4pPr marL="921715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4pPr>
    <a:lvl5pPr marL="1228954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5pPr>
    <a:lvl6pPr marL="1536192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6pPr>
    <a:lvl7pPr marL="1843430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7pPr>
    <a:lvl8pPr marL="2150669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8pPr>
    <a:lvl9pPr marL="2457907" algn="l" defTabSz="614477" rtl="0" eaLnBrk="1" latinLnBrk="0" hangingPunct="1">
      <a:defRPr sz="121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0" d="100"/>
          <a:sy n="130" d="100"/>
        </p:scale>
        <p:origin x="18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885CA-4CE8-BDD3-7747-8B20C6E13B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97890"/>
            <a:ext cx="5486400" cy="1910080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B95E0-1C62-D12C-3025-546932B3E1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2881630"/>
            <a:ext cx="5486400" cy="1324610"/>
          </a:xfrm>
        </p:spPr>
        <p:txBody>
          <a:bodyPr/>
          <a:lstStyle>
            <a:lvl1pPr marL="0" indent="0" algn="ctr">
              <a:buNone/>
              <a:defRPr sz="1440"/>
            </a:lvl1pPr>
            <a:lvl2pPr marL="274320" indent="0" algn="ctr">
              <a:buNone/>
              <a:defRPr sz="1200"/>
            </a:lvl2pPr>
            <a:lvl3pPr marL="548640" indent="0" algn="ctr">
              <a:buNone/>
              <a:defRPr sz="1080"/>
            </a:lvl3pPr>
            <a:lvl4pPr marL="822960" indent="0" algn="ctr">
              <a:buNone/>
              <a:defRPr sz="960"/>
            </a:lvl4pPr>
            <a:lvl5pPr marL="1097280" indent="0" algn="ctr">
              <a:buNone/>
              <a:defRPr sz="960"/>
            </a:lvl5pPr>
            <a:lvl6pPr marL="1371600" indent="0" algn="ctr">
              <a:buNone/>
              <a:defRPr sz="960"/>
            </a:lvl6pPr>
            <a:lvl7pPr marL="1645920" indent="0" algn="ctr">
              <a:buNone/>
              <a:defRPr sz="960"/>
            </a:lvl7pPr>
            <a:lvl8pPr marL="1920240" indent="0" algn="ctr">
              <a:buNone/>
              <a:defRPr sz="960"/>
            </a:lvl8pPr>
            <a:lvl9pPr marL="2194560" indent="0" algn="ctr">
              <a:buNone/>
              <a:defRPr sz="9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386E3-D801-75AD-7865-0044898A3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86D86-B8FC-4D4A-A59F-7592200169AB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A11FE-9260-617D-CBD4-A187A1285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EC25A-7BB9-630E-749D-8F61E6F6B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7E51E-A64A-4F2E-ABEE-4BF60720D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70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E8568-20AC-A7E3-D5C5-6088609C6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7B8A1-4CEA-5B19-619E-5DC195AFA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41273-4066-CABC-5344-00A8BCC23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86D86-B8FC-4D4A-A59F-7592200169AB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0D389-2938-AD47-E763-47BE61C1C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258DE-8F28-4786-6A39-A1CBF7168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7E51E-A64A-4F2E-ABEE-4BF60720D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232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B0971-1EE4-9975-CDEE-35DA19AA8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110" y="1367791"/>
            <a:ext cx="6309360" cy="228219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AE16B8-8C76-E51F-A39C-2BE477650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9110" y="3671571"/>
            <a:ext cx="6309360" cy="1200150"/>
          </a:xfrm>
        </p:spPr>
        <p:txBody>
          <a:bodyPr/>
          <a:lstStyle>
            <a:lvl1pPr marL="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1pPr>
            <a:lvl2pPr marL="27432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2pPr>
            <a:lvl3pPr marL="548640" indent="0">
              <a:buNone/>
              <a:defRPr sz="1080">
                <a:solidFill>
                  <a:schemeClr val="tx1">
                    <a:tint val="82000"/>
                  </a:schemeClr>
                </a:solidFill>
              </a:defRPr>
            </a:lvl3pPr>
            <a:lvl4pPr marL="8229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4pPr>
            <a:lvl5pPr marL="109728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5pPr>
            <a:lvl6pPr marL="137160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6pPr>
            <a:lvl7pPr marL="164592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7pPr>
            <a:lvl8pPr marL="192024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8pPr>
            <a:lvl9pPr marL="219456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B784A-AEA6-9550-BFED-DDB710308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86D86-B8FC-4D4A-A59F-7592200169AB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48F25-B716-95AA-09B2-C16F68302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846CC-1B67-D63B-958F-9ABEFDF71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7E51E-A64A-4F2E-ABEE-4BF60720D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75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B860B-DEA2-2BB3-EE3E-05A72B997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F641B-78B1-605A-297D-BEDDB56C3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460500"/>
            <a:ext cx="310896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8ED196-0C8C-A9FE-1692-270DDAD9B6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03320" y="1460500"/>
            <a:ext cx="310896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FFE9C4-1400-F8A8-179C-E7CD375E1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86D86-B8FC-4D4A-A59F-7592200169AB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8C48DE-6B2E-6233-0DE0-43116601A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59156D-2822-487B-2D0A-41EAC8BBD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7E51E-A64A-4F2E-ABEE-4BF60720D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205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AAA84-8B30-91DD-3138-645015BAD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3" y="292101"/>
            <a:ext cx="6309360" cy="10604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1E3A1E-195F-0D60-CB98-FA1248652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3873" y="1344930"/>
            <a:ext cx="3094672" cy="659130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84CC02-5947-4C72-FE46-9D18418333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3873" y="2004060"/>
            <a:ext cx="3094672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2D03E8-2608-FE63-84D0-5026B6F866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703320" y="1344930"/>
            <a:ext cx="3109913" cy="659130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D8E375-61A6-B875-F54B-0DFCA40B08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703320" y="2004060"/>
            <a:ext cx="3109913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D91781-30A4-89F5-033B-5796A508A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86D86-B8FC-4D4A-A59F-7592200169AB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32AC59-4A58-F4DD-1CB8-BD36D69FD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754D56-084F-B710-23F8-E67EC65F5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7E51E-A64A-4F2E-ABEE-4BF60720D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505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9244-DB16-D87A-482D-3EC518999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FA5DB7-4E42-4AAC-A0CD-3093CAC5F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86D86-B8FC-4D4A-A59F-7592200169AB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EBB9-885C-C8DA-F05F-CC1B213E7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744F16-7BBC-42E8-DA32-9D8D17B83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7E51E-A64A-4F2E-ABEE-4BF60720D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418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1FBF7E-2E85-8E77-06CF-37849DCB5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86D86-B8FC-4D4A-A59F-7592200169AB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47ABA1-688C-94FB-A688-314A19865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DF6DE-EA99-C63A-16F5-24248315A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7E51E-A64A-4F2E-ABEE-4BF60720D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53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5B69C-BD4B-68BD-DC44-B4A49427E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3" y="365760"/>
            <a:ext cx="2359342" cy="128016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C758F-C2E6-EC08-313B-87555C7C4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9913" y="789940"/>
            <a:ext cx="3703320" cy="3898900"/>
          </a:xfrm>
        </p:spPr>
        <p:txBody>
          <a:bodyPr/>
          <a:lstStyle>
            <a:lvl1pPr>
              <a:defRPr sz="1920"/>
            </a:lvl1pPr>
            <a:lvl2pPr>
              <a:defRPr sz="1680"/>
            </a:lvl2pPr>
            <a:lvl3pPr>
              <a:defRPr sz="144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2BE710-B42E-0ED0-A4E1-DE2E4E5080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03873" y="1645920"/>
            <a:ext cx="2359342" cy="3049270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43B89E-5108-AA50-723A-F8D71783E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86D86-B8FC-4D4A-A59F-7592200169AB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7EE586-089C-CBAF-9D0A-1331B463D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F90441-E093-E77D-A8B3-0F30FD537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7E51E-A64A-4F2E-ABEE-4BF60720D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208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59170-0F92-2279-AF06-CF08A9F0A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3" y="365760"/>
            <a:ext cx="2359342" cy="1280160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44EC2A-4A2C-7A80-432D-54FA41FFDC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109913" y="789940"/>
            <a:ext cx="3703320" cy="3898900"/>
          </a:xfrm>
        </p:spPr>
        <p:txBody>
          <a:bodyPr/>
          <a:lstStyle>
            <a:lvl1pPr marL="0" indent="0">
              <a:buNone/>
              <a:defRPr sz="1920"/>
            </a:lvl1pPr>
            <a:lvl2pPr marL="274320" indent="0">
              <a:buNone/>
              <a:defRPr sz="1680"/>
            </a:lvl2pPr>
            <a:lvl3pPr marL="548640" indent="0">
              <a:buNone/>
              <a:defRPr sz="1440"/>
            </a:lvl3pPr>
            <a:lvl4pPr marL="822960" indent="0">
              <a:buNone/>
              <a:defRPr sz="1200"/>
            </a:lvl4pPr>
            <a:lvl5pPr marL="1097280" indent="0">
              <a:buNone/>
              <a:defRPr sz="1200"/>
            </a:lvl5pPr>
            <a:lvl6pPr marL="1371600" indent="0">
              <a:buNone/>
              <a:defRPr sz="1200"/>
            </a:lvl6pPr>
            <a:lvl7pPr marL="1645920" indent="0">
              <a:buNone/>
              <a:defRPr sz="1200"/>
            </a:lvl7pPr>
            <a:lvl8pPr marL="1920240" indent="0">
              <a:buNone/>
              <a:defRPr sz="1200"/>
            </a:lvl8pPr>
            <a:lvl9pPr marL="2194560" indent="0">
              <a:buNone/>
              <a:defRPr sz="12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D5DBAE-E338-99ED-394C-D248E5223D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03873" y="1645920"/>
            <a:ext cx="2359342" cy="3049270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F0BED3-C427-96EC-1BDF-1D554D4D8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86D86-B8FC-4D4A-A59F-7592200169AB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347AC-5277-9484-34A2-163588514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B560E-0240-383F-3304-986EE871D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7E51E-A64A-4F2E-ABEE-4BF60720D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504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07F59-D00A-950C-75DE-870163EBA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5B6648-9021-1FDC-0CE8-C986432D64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74748-FF47-3642-2DD0-DCF2E1494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86D86-B8FC-4D4A-A59F-7592200169AB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564CC-1822-35DA-1846-A40FFBF2C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1D265-FD3D-9F5E-2D72-EC7674028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7E51E-A64A-4F2E-ABEE-4BF60720D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291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03D106-C97D-12A0-B7BA-E8D7DF536D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5234940" y="292100"/>
            <a:ext cx="1577340" cy="46494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0BD2C4-8C1B-EEA8-1FE9-3792663306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2920" y="292100"/>
            <a:ext cx="4640580" cy="46494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91F49-6BE5-CC37-8925-2ADBB8176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86D86-B8FC-4D4A-A59F-7592200169AB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FC44B-E0E2-03AD-1EDC-F97236FBD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741BA-3D90-638B-E600-B50A43E8A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7E51E-A64A-4F2E-ABEE-4BF60720D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2180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91E93-6097-E3B4-A74F-9038037AB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56D7D8-F101-D424-28B0-0E3A0952C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131E0-97F3-11C3-AF49-E2EC352A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86D86-B8FC-4D4A-A59F-7592200169AB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54390-C061-6F17-7675-B932999C0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B93C1-9A75-3A0D-6F1A-22BF6F173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27E51E-A64A-4F2E-ABEE-4BF60720D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250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CF8E38-52C3-0BF6-48DB-8D3C24B35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92101"/>
            <a:ext cx="6309360" cy="106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DB197-6FE8-BA98-D2C8-C0FAB4E84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2920" y="1460500"/>
            <a:ext cx="6309360" cy="348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2DB9D-D0D8-1151-9D5E-205B1F21F4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2920" y="5085080"/>
            <a:ext cx="164592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486D86-B8FC-4D4A-A59F-7592200169AB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B8058-E641-BAC3-8FAA-81603DC664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23160" y="5085080"/>
            <a:ext cx="246888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A88B8-0353-474E-9EC1-3C44650757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6360" y="5085080"/>
            <a:ext cx="164592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27E51E-A64A-4F2E-ABEE-4BF60720D4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050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54864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54864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7F4B9-E04D-B69E-A6EF-6E83DE87E1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Approve a Four-Week Workflow Pilot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9AB6BF-6951-64C7-EE8F-5B294A367A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Reducing import document handoff delays
Decision today: pilot, owner, review measures</a:t>
            </a:r>
          </a:p>
        </p:txBody>
      </p:sp>
    </p:spTree>
    <p:extLst>
      <p:ext uri="{BB962C8B-B14F-4D97-AF65-F5344CB8AC3E}">
        <p14:creationId xmlns:p14="http://schemas.microsoft.com/office/powerpoint/2010/main" val="3677661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74380-6251-5CB9-5D9D-827641EDB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Handoff Notes Are Spread Across Three Places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72E905-948D-5C00-A546-C58C5C5D89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Email: messages split
Spreadsheet: copied details
Short messages: owner unclear
Emphasis: ownership is unclear before the cutoff window</a:t>
            </a:r>
          </a:p>
        </p:txBody>
      </p:sp>
    </p:spTree>
    <p:extLst>
      <p:ext uri="{BB962C8B-B14F-4D97-AF65-F5344CB8AC3E}">
        <p14:creationId xmlns:p14="http://schemas.microsoft.com/office/powerpoint/2010/main" val="2848282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B6C7A-555E-F983-D046-266623B5D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Most Delays Involve Unclear Handoff Notes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36EA6D-37F6-BE59-F81A-9256FAF06C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38 late handoffs
61% linked to unclear notes
22 minutes average rework
Emphasis: unclear notes are the main preventable cause</a:t>
            </a:r>
          </a:p>
        </p:txBody>
      </p:sp>
    </p:spTree>
    <p:extLst>
      <p:ext uri="{BB962C8B-B14F-4D97-AF65-F5344CB8AC3E}">
        <p14:creationId xmlns:p14="http://schemas.microsoft.com/office/powerpoint/2010/main" val="680408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D9081-CC79-8B7B-AF74-B1FA60713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One Shared Log Makes Ownership Visible Earlier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1F701-BDA2-F04B-C226-4AF7DAC5AF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Current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C7A9B9-D792-8923-3C89-977AFC3903D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Email check
Manual note
Handoff
Deadline risk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353707-519A-449F-A5AC-1EC3AB762C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Pilot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C80BE5-933C-10B6-C1B1-03BF66E9631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/>
              <a:t>Exception log
Fixed checkpoint
Visible owner
Control unchanged</a:t>
            </a:r>
          </a:p>
        </p:txBody>
      </p:sp>
    </p:spTree>
    <p:extLst>
      <p:ext uri="{BB962C8B-B14F-4D97-AF65-F5344CB8AC3E}">
        <p14:creationId xmlns:p14="http://schemas.microsoft.com/office/powerpoint/2010/main" val="4160178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C5B44-69A1-0F73-C5FE-3BBF2821A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Pilot Is Limited and Controlled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78FD67-3B8C-B833-4F28-732B14EE3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Week 0: review fields
Weeks 1-4: daily checkpoint
End: review delay, rework, and feedback
Emphasis: test before expanding</a:t>
            </a:r>
          </a:p>
        </p:txBody>
      </p:sp>
    </p:spTree>
    <p:extLst>
      <p:ext uri="{BB962C8B-B14F-4D97-AF65-F5344CB8AC3E}">
        <p14:creationId xmlns:p14="http://schemas.microsoft.com/office/powerpoint/2010/main" val="419099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DA4BC-EB09-1A94-8F23-A0C70A843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Request Is Approval, Ownership, and Review Criteria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47C80C-F0F9-06C6-C80E-8CB5CC1EA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Approve the pilot
Confirm the documentation lead
Agree the review measures</a:t>
            </a:r>
          </a:p>
        </p:txBody>
      </p:sp>
    </p:spTree>
    <p:extLst>
      <p:ext uri="{BB962C8B-B14F-4D97-AF65-F5344CB8AC3E}">
        <p14:creationId xmlns:p14="http://schemas.microsoft.com/office/powerpoint/2010/main" val="4152406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</Words>
  <Application>Microsoft Office PowerPoint</Application>
  <PresentationFormat>Custom</PresentationFormat>
  <Paragraphs>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Approve a Four-Week Workflow Pilot</vt:lpstr>
      <vt:lpstr>Handoff Notes Are Spread Across Three Places</vt:lpstr>
      <vt:lpstr>Most Delays Involve Unclear Handoff Notes</vt:lpstr>
      <vt:lpstr>One Shared Log Makes Ownership Visible Earlier</vt:lpstr>
      <vt:lpstr>The Pilot Is Limited and Controlled</vt:lpstr>
      <vt:lpstr>The Request Is Approval, Ownership, and Review Criteria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Dobson</dc:creator>
  <cp:lastModifiedBy>David Dobson</cp:lastModifiedBy>
  <cp:revision>1</cp:revision>
  <dcterms:created xsi:type="dcterms:W3CDTF">2026-08-13T05:41:49Z</dcterms:created>
  <dcterms:modified xsi:type="dcterms:W3CDTF">2026-08-13T05:41:49Z</dcterms:modified>
</cp:coreProperties>
</file>